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6" r:id="rId2"/>
    <p:sldId id="257" r:id="rId3"/>
    <p:sldId id="308" r:id="rId4"/>
    <p:sldId id="297" r:id="rId5"/>
    <p:sldId id="298" r:id="rId6"/>
    <p:sldId id="299" r:id="rId7"/>
    <p:sldId id="309" r:id="rId8"/>
    <p:sldId id="300" r:id="rId9"/>
    <p:sldId id="310" r:id="rId10"/>
    <p:sldId id="311" r:id="rId11"/>
    <p:sldId id="312" r:id="rId12"/>
    <p:sldId id="315" r:id="rId13"/>
    <p:sldId id="317" r:id="rId14"/>
    <p:sldId id="318" r:id="rId15"/>
    <p:sldId id="313" r:id="rId16"/>
    <p:sldId id="293" r:id="rId17"/>
    <p:sldId id="301" r:id="rId18"/>
    <p:sldId id="364" r:id="rId19"/>
    <p:sldId id="369" r:id="rId20"/>
    <p:sldId id="302" r:id="rId21"/>
    <p:sldId id="296" r:id="rId22"/>
    <p:sldId id="314" r:id="rId23"/>
    <p:sldId id="365" r:id="rId24"/>
    <p:sldId id="366" r:id="rId25"/>
    <p:sldId id="295" r:id="rId26"/>
    <p:sldId id="328" r:id="rId27"/>
    <p:sldId id="319" r:id="rId28"/>
    <p:sldId id="322" r:id="rId29"/>
    <p:sldId id="323" r:id="rId30"/>
    <p:sldId id="324" r:id="rId31"/>
    <p:sldId id="325" r:id="rId32"/>
    <p:sldId id="326" r:id="rId33"/>
    <p:sldId id="327" r:id="rId34"/>
    <p:sldId id="329" r:id="rId35"/>
    <p:sldId id="320" r:id="rId36"/>
    <p:sldId id="331" r:id="rId37"/>
    <p:sldId id="332" r:id="rId38"/>
    <p:sldId id="334" r:id="rId39"/>
    <p:sldId id="335" r:id="rId40"/>
    <p:sldId id="336" r:id="rId41"/>
    <p:sldId id="339" r:id="rId42"/>
    <p:sldId id="337" r:id="rId43"/>
    <p:sldId id="338" r:id="rId44"/>
    <p:sldId id="340" r:id="rId45"/>
    <p:sldId id="343" r:id="rId46"/>
    <p:sldId id="342" r:id="rId47"/>
    <p:sldId id="316" r:id="rId48"/>
    <p:sldId id="330" r:id="rId49"/>
    <p:sldId id="321" r:id="rId50"/>
    <p:sldId id="348" r:id="rId51"/>
    <p:sldId id="352" r:id="rId52"/>
    <p:sldId id="355" r:id="rId53"/>
    <p:sldId id="356" r:id="rId54"/>
    <p:sldId id="357" r:id="rId55"/>
    <p:sldId id="353" r:id="rId56"/>
    <p:sldId id="359" r:id="rId57"/>
    <p:sldId id="360" r:id="rId58"/>
    <p:sldId id="361" r:id="rId59"/>
    <p:sldId id="362" r:id="rId60"/>
    <p:sldId id="363" r:id="rId61"/>
    <p:sldId id="294" r:id="rId62"/>
    <p:sldId id="367" r:id="rId63"/>
    <p:sldId id="368" r:id="rId64"/>
    <p:sldId id="284" r:id="rId65"/>
    <p:sldId id="285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40" autoAdjust="0"/>
    <p:restoredTop sz="90015"/>
  </p:normalViewPr>
  <p:slideViewPr>
    <p:cSldViewPr snapToGrid="0">
      <p:cViewPr varScale="1">
        <p:scale>
          <a:sx n="106" d="100"/>
          <a:sy n="106" d="100"/>
        </p:scale>
        <p:origin x="864" y="168"/>
      </p:cViewPr>
      <p:guideLst/>
    </p:cSldViewPr>
  </p:slideViewPr>
  <p:outlineViewPr>
    <p:cViewPr>
      <p:scale>
        <a:sx n="33" d="100"/>
        <a:sy n="33" d="100"/>
      </p:scale>
      <p:origin x="0" y="-696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870C-5E57-2C41-AAC9-71F182C74697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0E51-2A56-6548-92D2-7B432776EB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036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46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i="1" dirty="0"/>
              <a:t>procedure</a:t>
            </a:r>
            <a:r>
              <a:rPr lang="en-US" dirty="0"/>
              <a:t> in </a:t>
            </a:r>
            <a:r>
              <a:rPr lang="en-US" i="1" dirty="0"/>
              <a:t>procedural programming</a:t>
            </a:r>
            <a:r>
              <a:rPr lang="en-US" dirty="0"/>
              <a:t> refers to a </a:t>
            </a:r>
            <a:r>
              <a:rPr lang="en-US" i="1" dirty="0"/>
              <a:t>callable unit</a:t>
            </a:r>
            <a:r>
              <a:rPr lang="en-US" dirty="0"/>
              <a:t>, a.k.a. routine, subprogram, subroutine, or (in OOP) method.</a:t>
            </a:r>
          </a:p>
          <a:p>
            <a:r>
              <a:rPr lang="en-US" dirty="0"/>
              <a:t>“</a:t>
            </a:r>
            <a:r>
              <a:rPr lang="en-US" i="1" dirty="0"/>
              <a:t>The first major procedural programming languages appeared circa 1957–1964, including Fortran, ALGOL, COBOL, PL/I and BASIC.[2] Pascal and C were published circa 1970–1972.</a:t>
            </a:r>
            <a:r>
              <a:rPr lang="en-US" dirty="0"/>
              <a:t>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71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Low-level API now has a dependency on </a:t>
            </a:r>
            <a:r>
              <a:rPr lang="en-US" dirty="0" err="1"/>
              <a:t>ILogger</a:t>
            </a:r>
            <a:r>
              <a:rPr lang="en-US" dirty="0"/>
              <a:t> defined in </a:t>
            </a:r>
            <a:r>
              <a:rPr lang="en-US" b="0" i="0" u="none" strike="noStrike" dirty="0" err="1">
                <a:solidFill>
                  <a:srgbClr val="505050"/>
                </a:solidFill>
                <a:effectLst/>
                <a:latin typeface="Segoe UI" panose="020B0502040204020203" pitchFamily="34" charset="0"/>
              </a:rPr>
              <a:t>Microsoft.Extensions.Logging.Abstractions</a:t>
            </a:r>
            <a:r>
              <a:rPr lang="en-US" b="0" i="0" u="none" strike="noStrike" dirty="0">
                <a:solidFill>
                  <a:srgbClr val="505050"/>
                </a:solidFill>
                <a:effectLst/>
                <a:latin typeface="Segoe UI" panose="020B0502040204020203" pitchFamily="34" charset="0"/>
              </a:rPr>
              <a:t> when it really shouldn’t.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83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714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48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Alternatively, we could wrap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&lt;T&gt;</a:t>
            </a:r>
            <a:r>
              <a:rPr lang="en-US" dirty="0"/>
              <a:t> (if we don’t have the source, we’d have 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091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485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8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295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8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74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257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6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7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4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684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77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9329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9426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799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9886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859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5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451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nnisdietrich/FpWithCSharp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youtube.com/watch?v=zBkNBP00wJE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4A4C6BC1-6D20-C3C6-F3D0-4B487926E0AA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5 (2026-05-03), </a:t>
            </a:r>
            <a:r>
              <a:rPr lang="en-US" sz="1200" dirty="0">
                <a:hlinkClick r:id="rId2"/>
              </a:rPr>
              <a:t>https://github.com/dennisdietrich/FpWithCSharp/</a:t>
            </a:r>
            <a:endParaRPr lang="en-US" sz="1200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9350052-7038-D5F1-21E3-F792C19B7A54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EC67EE-5852-F1C4-1374-A3CBC28A1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Adding functional programming to your OOP codebase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B95786-3E35-38E5-EC71-23D0B7D733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Let's get </a:t>
            </a:r>
            <a:r>
              <a:rPr lang="en-US" dirty="0" err="1">
                <a:latin typeface="Consolas" panose="020B0609020204030204" pitchFamily="49" charset="0"/>
              </a:rPr>
              <a:t>Func</a:t>
            </a:r>
            <a:r>
              <a:rPr lang="en-US" dirty="0">
                <a:latin typeface="Consolas" panose="020B0609020204030204" pitchFamily="49" charset="0"/>
              </a:rPr>
              <a:t>&lt;Y&gt;</a:t>
            </a:r>
          </a:p>
        </p:txBody>
      </p:sp>
    </p:spTree>
    <p:extLst>
      <p:ext uri="{BB962C8B-B14F-4D97-AF65-F5344CB8AC3E}">
        <p14:creationId xmlns:p14="http://schemas.microsoft.com/office/powerpoint/2010/main" val="1225420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B5A65-FBAA-DC24-398C-2298A2AF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3CA19-329D-0F80-C469-2825866C6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</a:p>
          <a:p>
            <a:r>
              <a:rPr lang="en-US" dirty="0"/>
              <a:t>Pure functions</a:t>
            </a:r>
          </a:p>
          <a:p>
            <a:r>
              <a:rPr lang="en-US" dirty="0"/>
              <a:t>Functional programming (FP)</a:t>
            </a:r>
          </a:p>
          <a:p>
            <a:r>
              <a:rPr lang="en-US" dirty="0"/>
              <a:t>Closures</a:t>
            </a:r>
          </a:p>
          <a:p>
            <a:r>
              <a:rPr lang="en-US" dirty="0"/>
              <a:t>Examples</a:t>
            </a:r>
          </a:p>
          <a:p>
            <a:r>
              <a:rPr lang="en-US" dirty="0"/>
              <a:t>Next steps and further resources</a:t>
            </a:r>
          </a:p>
        </p:txBody>
      </p:sp>
    </p:spTree>
    <p:extLst>
      <p:ext uri="{BB962C8B-B14F-4D97-AF65-F5344CB8AC3E}">
        <p14:creationId xmlns:p14="http://schemas.microsoft.com/office/powerpoint/2010/main" val="1836417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8B5B-0074-0DEA-247E-F5402166D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before we start…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E129E-73DC-4CE9-9FE9-2AABACCBD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here is already using functional programming?</a:t>
            </a:r>
          </a:p>
          <a:p>
            <a:r>
              <a:rPr lang="en-US" dirty="0"/>
              <a:t>Who here is using LINQ?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F043563-D861-1204-7E30-7D0470F7A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903" y="2967335"/>
            <a:ext cx="5630067" cy="923330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sessions.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=&gt;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93A1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8C6C41"/>
                </a:solidFill>
                <a:effectLst/>
                <a:latin typeface="Consolas" panose="020B0609020204030204" pitchFamily="49" charset="0"/>
              </a:rPr>
              <a:t>"C#"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383838"/>
                </a:solidFill>
                <a:latin typeface="Consolas" panose="020B060902020403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=&gt;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93A1"/>
                </a:solidFill>
                <a:effectLst/>
                <a:latin typeface="Consolas" panose="020B0609020204030204" pitchFamily="49" charset="0"/>
              </a:rPr>
              <a:t>Speaker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383838"/>
                </a:solidFill>
                <a:latin typeface="Consolas" panose="020B060902020403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Distinct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();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37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Orders of functions</a:t>
            </a:r>
          </a:p>
        </p:txBody>
      </p:sp>
    </p:spTree>
    <p:extLst>
      <p:ext uri="{BB962C8B-B14F-4D97-AF65-F5344CB8AC3E}">
        <p14:creationId xmlns:p14="http://schemas.microsoft.com/office/powerpoint/2010/main" val="3118502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  <a:br>
              <a:rPr lang="en-US" dirty="0"/>
            </a:br>
            <a:r>
              <a:rPr lang="en-US" dirty="0"/>
              <a:t>First-order functions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B0CC336-07BD-ADDD-D2B9-CC648B237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First-order functions take and return data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F54D6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F54D6"/>
              </a:solidFill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SpecifyKind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value,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DateTimeKind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kind)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int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this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source)</a:t>
            </a:r>
            <a:endParaRPr lang="en-US" altLang="en-US" dirty="0">
              <a:solidFill>
                <a:srgbClr val="383838"/>
              </a:solidFill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383838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Empty parameter list and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 are data too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void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714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>
            <a:extLst>
              <a:ext uri="{FF2B5EF4-FFF2-40B4-BE49-F238E27FC236}">
                <a16:creationId xmlns:a16="http://schemas.microsoft.com/office/drawing/2014/main" id="{9B6D5947-E5C1-43D6-E39F-B920DD345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4354960"/>
            <a:ext cx="8946541" cy="1893439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…or return a function</a:t>
            </a: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CreateDelegate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&gt;()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Delegate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TDelegate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34C0A34-D4E3-EDFF-9A0D-61DF33954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2052918"/>
            <a:ext cx="8946541" cy="1893439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HOFs take at least one function…</a:t>
            </a: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&gt;(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this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source,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selector)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Lazy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valueFactory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  <a:br>
              <a:rPr lang="en-US" dirty="0"/>
            </a:br>
            <a:r>
              <a:rPr lang="en-US" dirty="0"/>
              <a:t>Higher-order functions (HOFs)</a:t>
            </a:r>
          </a:p>
        </p:txBody>
      </p:sp>
    </p:spTree>
    <p:extLst>
      <p:ext uri="{BB962C8B-B14F-4D97-AF65-F5344CB8AC3E}">
        <p14:creationId xmlns:p14="http://schemas.microsoft.com/office/powerpoint/2010/main" val="164935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Pure functions</a:t>
            </a:r>
          </a:p>
        </p:txBody>
      </p:sp>
    </p:spTree>
    <p:extLst>
      <p:ext uri="{BB962C8B-B14F-4D97-AF65-F5344CB8AC3E}">
        <p14:creationId xmlns:p14="http://schemas.microsoft.com/office/powerpoint/2010/main" val="3718212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D56E3-2B90-2A3B-E384-D45FBDF93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Are deterministic</a:t>
                </a:r>
              </a:p>
              <a:p>
                <a:pPr lvl="1"/>
                <a:r>
                  <a:rPr lang="en-US" dirty="0"/>
                  <a:t>Always produce the same output for a given set of arguments</a:t>
                </a:r>
              </a:p>
              <a:p>
                <a:pPr lvl="1"/>
                <a:r>
                  <a:rPr lang="en-US" dirty="0"/>
                  <a:t>Never have side effects</a:t>
                </a:r>
              </a:p>
              <a:p>
                <a:r>
                  <a:rPr lang="en-US" dirty="0"/>
                  <a:t>Are the computer science equivalent of mathematical functions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D56E3-2B90-2A3B-E384-D45FBDF93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83" t="-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697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Mutating global state</a:t>
            </a:r>
          </a:p>
          <a:p>
            <a:r>
              <a:rPr lang="en-US" dirty="0"/>
              <a:t>Mutating arguments</a:t>
            </a:r>
          </a:p>
          <a:p>
            <a:r>
              <a:rPr lang="en-US" dirty="0"/>
              <a:t>Performing I/O</a:t>
            </a:r>
          </a:p>
          <a:p>
            <a:r>
              <a:rPr lang="en-US" dirty="0"/>
              <a:t>Throwing exceptions</a:t>
            </a:r>
          </a:p>
        </p:txBody>
      </p:sp>
    </p:spTree>
    <p:extLst>
      <p:ext uri="{BB962C8B-B14F-4D97-AF65-F5344CB8AC3E}">
        <p14:creationId xmlns:p14="http://schemas.microsoft.com/office/powerpoint/2010/main" val="9317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Why are exceptions side effects?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Exceptions alter only control-flow, not state…</a:t>
            </a:r>
          </a:p>
          <a:p>
            <a:r>
              <a:rPr lang="en-US" dirty="0"/>
              <a:t>…until you also consider “hidden” state</a:t>
            </a:r>
          </a:p>
        </p:txBody>
      </p:sp>
      <p:grpSp>
        <p:nvGrpSpPr>
          <p:cNvPr id="20" name="Group 19" descr="Diagram of top of call stack with two stack frames">
            <a:extLst>
              <a:ext uri="{FF2B5EF4-FFF2-40B4-BE49-F238E27FC236}">
                <a16:creationId xmlns:a16="http://schemas.microsoft.com/office/drawing/2014/main" id="{FDF136A5-3FA2-E8FA-57C7-B7553EBA5487}"/>
              </a:ext>
            </a:extLst>
          </p:cNvPr>
          <p:cNvGrpSpPr>
            <a:grpSpLocks noChangeAspect="1"/>
          </p:cNvGrpSpPr>
          <p:nvPr/>
        </p:nvGrpSpPr>
        <p:grpSpPr>
          <a:xfrm>
            <a:off x="1558947" y="3124954"/>
            <a:ext cx="3966106" cy="3241515"/>
            <a:chOff x="1558947" y="3124954"/>
            <a:chExt cx="3257550" cy="2662409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EAD9087-5BFC-84B6-F0AA-DB5EE6C919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58947" y="3129888"/>
              <a:ext cx="3257550" cy="2657475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B6744D-50AE-57BE-ECAD-22078DB921CE}"/>
                </a:ext>
              </a:extLst>
            </p:cNvPr>
            <p:cNvSpPr/>
            <p:nvPr/>
          </p:nvSpPr>
          <p:spPr>
            <a:xfrm>
              <a:off x="1558947" y="3124954"/>
              <a:ext cx="3257550" cy="2657475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682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Immutability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Don‘t rely on immutability by convention</a:t>
            </a:r>
          </a:p>
          <a:p>
            <a:pPr lvl="1"/>
            <a:r>
              <a:rPr lang="en-US" dirty="0"/>
              <a:t>Easy to violate accidentally</a:t>
            </a:r>
          </a:p>
          <a:p>
            <a:pPr lvl="2"/>
            <a:r>
              <a:rPr lang="en-US" dirty="0"/>
              <a:t>Variables captured in closures may be modified elsewhere</a:t>
            </a:r>
          </a:p>
          <a:p>
            <a:pPr lvl="2"/>
            <a:r>
              <a:rPr lang="en-US" dirty="0"/>
              <a:t>Worse yet, modification may happen during execution of pure function!</a:t>
            </a:r>
          </a:p>
          <a:p>
            <a:pPr lvl="1"/>
            <a:r>
              <a:rPr lang="en-US" dirty="0"/>
              <a:t>Easy to circumvent intentionally</a:t>
            </a:r>
          </a:p>
          <a:p>
            <a:r>
              <a:rPr lang="en-US" dirty="0"/>
              <a:t>Use immutable record types (C# 9 and later)…</a:t>
            </a:r>
          </a:p>
          <a:p>
            <a:r>
              <a:rPr lang="en-US" dirty="0"/>
              <a:t>…or hand-written immutable types (C# 8 and earlier)</a:t>
            </a:r>
          </a:p>
          <a:p>
            <a:r>
              <a:rPr lang="en-US" dirty="0"/>
              <a:t>Should return immutable object</a:t>
            </a:r>
          </a:p>
          <a:p>
            <a:r>
              <a:rPr lang="en-US" dirty="0"/>
              <a:t>Necessitates more memory copy operations</a:t>
            </a:r>
          </a:p>
        </p:txBody>
      </p:sp>
    </p:spTree>
    <p:extLst>
      <p:ext uri="{BB962C8B-B14F-4D97-AF65-F5344CB8AC3E}">
        <p14:creationId xmlns:p14="http://schemas.microsoft.com/office/powerpoint/2010/main" val="2909225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i="1" dirty="0"/>
              <a:t>Only when it’s worth it!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Captain Obvious</a:t>
            </a:r>
          </a:p>
          <a:p>
            <a:r>
              <a:rPr lang="en-US" dirty="0"/>
              <a:t>Things to consider for each case:</a:t>
            </a:r>
          </a:p>
          <a:p>
            <a:pPr lvl="1"/>
            <a:r>
              <a:rPr lang="en-US" dirty="0"/>
              <a:t>Current cost</a:t>
            </a:r>
          </a:p>
          <a:p>
            <a:pPr lvl="1"/>
            <a:r>
              <a:rPr lang="en-US" dirty="0"/>
              <a:t>Expected performance improvement</a:t>
            </a:r>
          </a:p>
          <a:p>
            <a:pPr lvl="1"/>
            <a:r>
              <a:rPr lang="en-US" dirty="0"/>
              <a:t>Level of code churn</a:t>
            </a:r>
          </a:p>
          <a:p>
            <a:pPr lvl="1"/>
            <a:r>
              <a:rPr lang="en-US" dirty="0"/>
              <a:t>Estimated engineering effort</a:t>
            </a:r>
          </a:p>
          <a:p>
            <a:r>
              <a:rPr lang="en-US" dirty="0"/>
              <a:t>The maintainability hit is acceptable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382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scenario 1: You are not Facebook… like, at all!</a:t>
            </a:r>
          </a:p>
          <a:p>
            <a:pPr lvl="1"/>
            <a:r>
              <a:rPr lang="en-US" dirty="0"/>
              <a:t>Compute spend: 			$ 1,000 per month</a:t>
            </a:r>
          </a:p>
          <a:p>
            <a:pPr lvl="1"/>
            <a:r>
              <a:rPr lang="en-US" dirty="0"/>
              <a:t>Expected improvement: 	10 %</a:t>
            </a:r>
          </a:p>
          <a:p>
            <a:pPr lvl="1"/>
            <a:r>
              <a:rPr lang="en-US" dirty="0"/>
              <a:t>Level of code churn:		high (several substantial commits per month)</a:t>
            </a:r>
          </a:p>
          <a:p>
            <a:pPr lvl="1"/>
            <a:r>
              <a:rPr lang="en-US" dirty="0"/>
              <a:t>Estimated effort:			$ 6,000</a:t>
            </a:r>
          </a:p>
          <a:p>
            <a:r>
              <a:rPr lang="en-US" dirty="0"/>
              <a:t>Worth it? No, certainly not!</a:t>
            </a:r>
          </a:p>
          <a:p>
            <a:pPr lvl="1"/>
            <a:r>
              <a:rPr lang="en-US" dirty="0"/>
              <a:t>Expected annual savings:	$ 1,200</a:t>
            </a:r>
          </a:p>
          <a:p>
            <a:pPr lvl="1"/>
            <a:r>
              <a:rPr lang="en-US" dirty="0"/>
              <a:t>Payback period:			5 years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401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scenario 2: You are Facebook! …or Google, or Microsoft…</a:t>
            </a:r>
          </a:p>
          <a:p>
            <a:pPr lvl="1"/>
            <a:r>
              <a:rPr lang="en-US" dirty="0"/>
              <a:t>Compute spend: 			$ 1,000,000 per month</a:t>
            </a:r>
          </a:p>
          <a:p>
            <a:pPr lvl="1"/>
            <a:r>
              <a:rPr lang="en-US" dirty="0"/>
              <a:t>Expected improvement: 	5 %</a:t>
            </a:r>
          </a:p>
          <a:p>
            <a:pPr lvl="1"/>
            <a:r>
              <a:rPr lang="en-US" dirty="0"/>
              <a:t>Level of code churn:		low (a few minor commits per year)</a:t>
            </a:r>
          </a:p>
          <a:p>
            <a:pPr lvl="1"/>
            <a:r>
              <a:rPr lang="en-US" dirty="0"/>
              <a:t>Estimated effort:			$ 100,000</a:t>
            </a:r>
          </a:p>
          <a:p>
            <a:r>
              <a:rPr lang="en-US" dirty="0"/>
              <a:t>Worth it? Yes, absolutely!</a:t>
            </a:r>
          </a:p>
          <a:p>
            <a:pPr lvl="1"/>
            <a:r>
              <a:rPr lang="en-US" dirty="0"/>
              <a:t>Expected annual savings:	$ 600,000</a:t>
            </a:r>
          </a:p>
          <a:p>
            <a:pPr lvl="1"/>
            <a:r>
              <a:rPr lang="en-US" dirty="0"/>
              <a:t>Payback period:			2 months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70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Better testability</a:t>
            </a:r>
          </a:p>
          <a:p>
            <a:r>
              <a:rPr lang="en-US" dirty="0"/>
              <a:t>Can always be </a:t>
            </a:r>
            <a:r>
              <a:rPr lang="en-US" dirty="0" err="1"/>
              <a:t>memoized</a:t>
            </a:r>
            <a:endParaRPr lang="en-US" dirty="0"/>
          </a:p>
          <a:p>
            <a:r>
              <a:rPr lang="en-US" dirty="0"/>
              <a:t>Thread safety</a:t>
            </a:r>
          </a:p>
          <a:p>
            <a:r>
              <a:rPr lang="en-US" dirty="0"/>
              <a:t>Compile-time function execution</a:t>
            </a:r>
          </a:p>
          <a:p>
            <a:pPr lvl="1"/>
            <a:r>
              <a:rPr lang="en-US" i="1" dirty="0"/>
              <a:t>Rich Code for Tiny Computers: A Simple Commodore 64 Game in C++17</a:t>
            </a:r>
            <a:br>
              <a:rPr lang="en-US" dirty="0"/>
            </a:br>
            <a:r>
              <a:rPr lang="en-US" dirty="0"/>
              <a:t>Jason Turner, </a:t>
            </a:r>
            <a:r>
              <a:rPr lang="en-US" dirty="0" err="1"/>
              <a:t>CppCon</a:t>
            </a:r>
            <a:r>
              <a:rPr lang="en-US" dirty="0"/>
              <a:t> 2016</a:t>
            </a:r>
            <a:br>
              <a:rPr lang="en-US" dirty="0"/>
            </a:br>
            <a:r>
              <a:rPr lang="en-US" sz="1200" dirty="0">
                <a:hlinkClick r:id="rId2"/>
              </a:rPr>
              <a:t>https://www.youtube.com/watch?v=zBkNBP00wJE</a:t>
            </a:r>
            <a:endParaRPr lang="en-US" sz="1200" dirty="0"/>
          </a:p>
        </p:txBody>
      </p:sp>
      <p:pic>
        <p:nvPicPr>
          <p:cNvPr id="5" name="Picture 4" descr="Still frame from CppCon 2016 talk &quot;Rich Code for Tiny Computers: A Simple Commodore 64 Game in C++17&quot; by Jason Turner">
            <a:extLst>
              <a:ext uri="{FF2B5EF4-FFF2-40B4-BE49-F238E27FC236}">
                <a16:creationId xmlns:a16="http://schemas.microsoft.com/office/drawing/2014/main" id="{CFD089FE-3676-1995-475A-FFD3FCD8BD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1839" y="4357187"/>
            <a:ext cx="3897376" cy="2190496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ctr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671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274838"/>
            <a:ext cx="10068412" cy="230832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33103240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Definition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i="1" dirty="0"/>
              <a:t>Functional programming is programming using </a:t>
            </a:r>
            <a:r>
              <a:rPr lang="en-US" dirty="0"/>
              <a:t>pure functions</a:t>
            </a:r>
            <a:r>
              <a:rPr lang="en-US" i="1" dirty="0"/>
              <a:t> that manipulate </a:t>
            </a:r>
            <a:r>
              <a:rPr lang="en-US" dirty="0"/>
              <a:t>immutable values</a:t>
            </a:r>
            <a:r>
              <a:rPr lang="en-US" i="1" dirty="0"/>
              <a:t>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</a:t>
            </a:r>
            <a:r>
              <a:rPr lang="en-US" sz="1200" dirty="0" err="1"/>
              <a:t>Michał</a:t>
            </a:r>
            <a:r>
              <a:rPr lang="en-US" sz="1200" dirty="0"/>
              <a:t> </a:t>
            </a:r>
            <a:r>
              <a:rPr lang="en-US" sz="1200" dirty="0" err="1"/>
              <a:t>Płachta</a:t>
            </a:r>
            <a:r>
              <a:rPr lang="en-US" sz="1200" dirty="0"/>
              <a:t>, </a:t>
            </a:r>
            <a:r>
              <a:rPr lang="en-US" sz="1200" i="1" dirty="0"/>
              <a:t>Grokking Functional Programming</a:t>
            </a:r>
          </a:p>
          <a:p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Functional programming is sometimes treated as synonymous with purely functional programming, a subset of functional programming […].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 - Wikipedia,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Functional programming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5155">
                  <a:lumMod val="40000"/>
                  <a:lumOff val="60000"/>
                </a:srgbClr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“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Purely functional programming usually designates a programming paradigm […] that treats all computation as the evaluation of mathematical functions.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 - Wikipedia,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Purely 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9804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Definition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i="1" dirty="0"/>
              <a:t>At a high level, it’s a programming style that emphasizes functions while avoiding state mutations.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Enrico </a:t>
            </a:r>
            <a:r>
              <a:rPr lang="en-US" sz="1200" dirty="0" err="1"/>
              <a:t>Buonanno</a:t>
            </a:r>
            <a:r>
              <a:rPr lang="en-US" sz="1200" dirty="0"/>
              <a:t>, </a:t>
            </a:r>
            <a:r>
              <a:rPr lang="en-US" sz="1200" i="1" dirty="0"/>
              <a:t>Functional Programming in C#</a:t>
            </a:r>
          </a:p>
          <a:p>
            <a:r>
              <a:rPr lang="en-US" dirty="0"/>
              <a:t>“</a:t>
            </a:r>
            <a:r>
              <a:rPr lang="en-US" i="1" dirty="0"/>
              <a:t>Functional programming is a programming paradigm where programs are constructed by applying and composing functions.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Functional programming</a:t>
            </a:r>
          </a:p>
        </p:txBody>
      </p:sp>
      <p:pic>
        <p:nvPicPr>
          <p:cNvPr id="5" name="Picture 4" descr="Screenshot of QuickBASIC with source file open">
            <a:extLst>
              <a:ext uri="{FF2B5EF4-FFF2-40B4-BE49-F238E27FC236}">
                <a16:creationId xmlns:a16="http://schemas.microsoft.com/office/drawing/2014/main" id="{87938F52-F527-22C8-0CF8-1793AFE8A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609601"/>
            <a:ext cx="6096000" cy="3810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  <p:pic>
        <p:nvPicPr>
          <p:cNvPr id="7" name="Picture 6" descr="Screenshot of Turbo Pascal with source file open">
            <a:extLst>
              <a:ext uri="{FF2B5EF4-FFF2-40B4-BE49-F238E27FC236}">
                <a16:creationId xmlns:a16="http://schemas.microsoft.com/office/drawing/2014/main" id="{09DB999D-9F38-F0C4-C1AB-41A9AEDEC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89" y="2438399"/>
            <a:ext cx="6096000" cy="3810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902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Definitive definition (for this talk)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6348" y="0"/>
            <a:ext cx="9404724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800" dirty="0"/>
              <a:t>“</a:t>
            </a:r>
            <a:r>
              <a:rPr lang="en-US" sz="2800" i="1" dirty="0"/>
              <a:t>Functional programming is programming in a language that has first-class functions by defining and composing higher-order functions.</a:t>
            </a:r>
            <a:r>
              <a:rPr lang="en-US" sz="2800" dirty="0"/>
              <a:t>”</a:t>
            </a:r>
            <a:br>
              <a:rPr lang="en-US" sz="2800" dirty="0"/>
            </a:br>
            <a:r>
              <a:rPr lang="en-US" sz="1600" dirty="0"/>
              <a:t> - Dennis Dietrich, </a:t>
            </a:r>
            <a:r>
              <a:rPr lang="en-US" sz="1600" i="1" dirty="0"/>
              <a:t>Let's get </a:t>
            </a:r>
            <a:r>
              <a:rPr lang="en-US" sz="16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600" i="1" dirty="0">
                <a:latin typeface="Consolas" panose="020B0609020204030204" pitchFamily="49" charset="0"/>
                <a:cs typeface="Consolas" panose="020B0609020204030204" pitchFamily="49" charset="0"/>
              </a:rPr>
              <a:t>&lt;Y&gt;</a:t>
            </a:r>
          </a:p>
        </p:txBody>
      </p:sp>
    </p:spTree>
    <p:extLst>
      <p:ext uri="{BB962C8B-B14F-4D97-AF65-F5344CB8AC3E}">
        <p14:creationId xmlns:p14="http://schemas.microsoft.com/office/powerpoint/2010/main" val="149920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Pattern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in most functional languages including C#</a:t>
            </a:r>
            <a:br>
              <a:rPr lang="en-US" dirty="0"/>
            </a:br>
            <a:r>
              <a:rPr lang="en-US" dirty="0"/>
              <a:t>(since version 7)</a:t>
            </a:r>
          </a:p>
          <a:p>
            <a:r>
              <a:rPr lang="en-US" dirty="0"/>
              <a:t>Common feature of functional-first languages</a:t>
            </a:r>
          </a:p>
          <a:p>
            <a:r>
              <a:rPr lang="en-US" dirty="0"/>
              <a:t>“</a:t>
            </a:r>
            <a:r>
              <a:rPr lang="en-US" i="1" dirty="0"/>
              <a:t>This article is about pattern matching in functional programming.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Pattern matching</a:t>
            </a:r>
          </a:p>
          <a:p>
            <a:r>
              <a:rPr lang="en-US" dirty="0"/>
              <a:t>“…”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281526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Closures</a:t>
            </a:r>
          </a:p>
        </p:txBody>
      </p:sp>
    </p:spTree>
    <p:extLst>
      <p:ext uri="{BB962C8B-B14F-4D97-AF65-F5344CB8AC3E}">
        <p14:creationId xmlns:p14="http://schemas.microsoft.com/office/powerpoint/2010/main" val="28159841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97AC1-F4D1-0A0B-773E-D2CB043B3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local or anonymous function that captures free variables</a:t>
            </a:r>
          </a:p>
          <a:p>
            <a:r>
              <a:rPr lang="en-US" dirty="0"/>
              <a:t>Orthogonal to order and purity</a:t>
            </a:r>
          </a:p>
          <a:p>
            <a:r>
              <a:rPr lang="en-US" dirty="0"/>
              <a:t>Used to create functions relying on runtime values that cannot be passed as arguments</a:t>
            </a:r>
          </a:p>
        </p:txBody>
      </p:sp>
    </p:spTree>
    <p:extLst>
      <p:ext uri="{BB962C8B-B14F-4D97-AF65-F5344CB8AC3E}">
        <p14:creationId xmlns:p14="http://schemas.microsoft.com/office/powerpoint/2010/main" val="3067413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Examples 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A4DEA8-2DF2-FB56-1A0B-933C8EAB8067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CreateIncDecFuncPair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increment)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7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+= increment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7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-= increment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CreateIncDecFuncPair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funcs.Dec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8" name="Picture 7" descr="Screenshot of a console with the output of the code sample">
            <a:extLst>
              <a:ext uri="{FF2B5EF4-FFF2-40B4-BE49-F238E27FC236}">
                <a16:creationId xmlns:a16="http://schemas.microsoft.com/office/drawing/2014/main" id="{A4A6E4F9-3C75-2580-7F02-C3AD5B0863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909" y="2691876"/>
            <a:ext cx="4937760" cy="16764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930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Examples II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9B6144-D341-E577-BCCC-FED95247083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sealed record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Timestamp,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Username,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 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Successful);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minTimestamp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Now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AddDays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(-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last24Hours 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logins.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l.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Timestamp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&gt;=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minTimestamp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5395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2146797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Adding optional logging</a:t>
            </a:r>
          </a:p>
        </p:txBody>
      </p:sp>
    </p:spTree>
    <p:extLst>
      <p:ext uri="{BB962C8B-B14F-4D97-AF65-F5344CB8AC3E}">
        <p14:creationId xmlns:p14="http://schemas.microsoft.com/office/powerpoint/2010/main" val="41622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HighLevelCallerNoTracing</a:t>
            </a:r>
            <a:b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LowLevelApiNoTracing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Dummy so we have something to call</a:t>
            </a:r>
          </a:p>
          <a:p>
            <a:r>
              <a:rPr lang="en-US" i="1" dirty="0">
                <a:solidFill>
                  <a:srgbClr val="2487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representing further business logic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info) {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The problem I</a:t>
            </a:r>
          </a:p>
        </p:txBody>
      </p:sp>
    </p:spTree>
    <p:extLst>
      <p:ext uri="{BB962C8B-B14F-4D97-AF65-F5344CB8AC3E}">
        <p14:creationId xmlns:p14="http://schemas.microsoft.com/office/powerpoint/2010/main" val="20399174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LowLevelApiNoTracing</a:t>
            </a:r>
            <a:r>
              <a:rPr lang="en-US" sz="1600" dirty="0">
                <a:solidFill>
                  <a:srgbClr val="6B2FBA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TimeSpan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DefaultTtl</a:t>
            </a:r>
            <a:r>
              <a:rPr lang="en-US" sz="16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 </a:t>
            </a:r>
            <a:r>
              <a:rPr lang="en-US" sz="1600" b="1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600" b="1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What if we want to trace here?</a:t>
            </a:r>
            <a:b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Dummies so we have something to call representing further business logic</a:t>
            </a:r>
            <a:b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Enumerable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Empty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TimeSpan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DefaultTtl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The problem II</a:t>
            </a:r>
          </a:p>
        </p:txBody>
      </p:sp>
    </p:spTree>
    <p:extLst>
      <p:ext uri="{BB962C8B-B14F-4D97-AF65-F5344CB8AC3E}">
        <p14:creationId xmlns:p14="http://schemas.microsoft.com/office/powerpoint/2010/main" val="11522384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HighLevelCallerWithLogger</a:t>
            </a:r>
            <a:r>
              <a:rPr lang="en-US" dirty="0">
                <a:solidFill>
                  <a:srgbClr val="6B2FBA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LowLevelApiWithLogger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Dummy so we have something to call</a:t>
            </a:r>
          </a:p>
          <a:p>
            <a:r>
              <a:rPr lang="en-US" i="1" dirty="0">
                <a:solidFill>
                  <a:srgbClr val="2487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// representing further business logic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info) {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OOP solution I</a:t>
            </a:r>
          </a:p>
        </p:txBody>
      </p:sp>
    </p:spTree>
    <p:extLst>
      <p:ext uri="{BB962C8B-B14F-4D97-AF65-F5344CB8AC3E}">
        <p14:creationId xmlns:p14="http://schemas.microsoft.com/office/powerpoint/2010/main" val="41592458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=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LogTrace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"File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{0}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with access time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{1}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and TTL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{2}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has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{3}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expired"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""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"not "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OOP solution II</a:t>
            </a:r>
          </a:p>
        </p:txBody>
      </p:sp>
    </p:spTree>
    <p:extLst>
      <p:ext uri="{BB962C8B-B14F-4D97-AF65-F5344CB8AC3E}">
        <p14:creationId xmlns:p14="http://schemas.microsoft.com/office/powerpoint/2010/main" val="1950409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delegate void 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message,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params object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[]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=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 err="1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Invoke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"File {0} with access time {1} and TTL {2} has {3}expired"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""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"not 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</a:t>
            </a:r>
          </a:p>
        </p:txBody>
      </p:sp>
    </p:spTree>
    <p:extLst>
      <p:ext uri="{BB962C8B-B14F-4D97-AF65-F5344CB8AC3E}">
        <p14:creationId xmlns:p14="http://schemas.microsoft.com/office/powerpoint/2010/main" val="42182397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LowLevelApiWithFunction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Logger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II</a:t>
            </a:r>
          </a:p>
        </p:txBody>
      </p:sp>
    </p:spTree>
    <p:extLst>
      <p:ext uri="{BB962C8B-B14F-4D97-AF65-F5344CB8AC3E}">
        <p14:creationId xmlns:p14="http://schemas.microsoft.com/office/powerpoint/2010/main" val="3763151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LowLevelApiWithFunction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WriteTrace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static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message,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params object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[]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Trace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Format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(message,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III</a:t>
            </a:r>
          </a:p>
        </p:txBody>
      </p:sp>
    </p:spTree>
    <p:extLst>
      <p:ext uri="{BB962C8B-B14F-4D97-AF65-F5344CB8AC3E}">
        <p14:creationId xmlns:p14="http://schemas.microsoft.com/office/powerpoint/2010/main" val="13799761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Keeping things DRY</a:t>
            </a:r>
          </a:p>
        </p:txBody>
      </p:sp>
    </p:spTree>
    <p:extLst>
      <p:ext uri="{BB962C8B-B14F-4D97-AF65-F5344CB8AC3E}">
        <p14:creationId xmlns:p14="http://schemas.microsoft.com/office/powerpoint/2010/main" val="32198546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record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"Dennis Dietrich"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"So you think you know functions"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6852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7" name="Picture 6" descr="Screenshot of a console with the output of the code sample">
            <a:extLst>
              <a:ext uri="{FF2B5EF4-FFF2-40B4-BE49-F238E27FC236}">
                <a16:creationId xmlns:a16="http://schemas.microsoft.com/office/drawing/2014/main" id="{6E6AA015-7FBD-8AAD-3953-23EFF2627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179" y="2510790"/>
            <a:ext cx="6576060" cy="183642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342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3" name="Group 12" descr="Template method pattern UML diagram">
            <a:extLst>
              <a:ext uri="{FF2B5EF4-FFF2-40B4-BE49-F238E27FC236}">
                <a16:creationId xmlns:a16="http://schemas.microsoft.com/office/drawing/2014/main" id="{560C7489-9D1C-6E77-C89C-2855423A4A68}"/>
              </a:ext>
            </a:extLst>
          </p:cNvPr>
          <p:cNvGrpSpPr/>
          <p:nvPr/>
        </p:nvGrpSpPr>
        <p:grpSpPr>
          <a:xfrm>
            <a:off x="4833937" y="2499658"/>
            <a:ext cx="2524125" cy="3302000"/>
            <a:chOff x="6204962" y="964043"/>
            <a:chExt cx="2524125" cy="330200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B3BEA8E-7314-C51B-F17C-7182FF7B1366}"/>
                </a:ext>
              </a:extLst>
            </p:cNvPr>
            <p:cNvSpPr txBox="1"/>
            <p:nvPr/>
          </p:nvSpPr>
          <p:spPr>
            <a:xfrm>
              <a:off x="6204962" y="964043"/>
              <a:ext cx="2524125" cy="3302000"/>
            </a:xfrm>
            <a:prstGeom prst="rect">
              <a:avLst/>
            </a:prstGeom>
            <a:solidFill>
              <a:schemeClr val="tx1"/>
            </a:solidFill>
            <a:ln w="15875">
              <a:solidFill>
                <a:schemeClr val="accent1"/>
              </a:solidFill>
            </a:ln>
            <a:effectLst>
              <a:outerShdw blurRad="127000" dist="127000" dir="2700000" algn="tl" rotWithShape="0">
                <a:schemeClr val="bg1">
                  <a:lumMod val="95000"/>
                  <a:lumOff val="5000"/>
                  <a:alpha val="80000"/>
                </a:schemeClr>
              </a:outerShdw>
            </a:effectLst>
          </p:spPr>
          <p:txBody>
            <a:bodyPr wrap="square" rtlCol="0">
              <a:noAutofit/>
            </a:bodyPr>
            <a:lstStyle/>
            <a:p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E6D7F250-ED12-4633-4830-97EDAA3F49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04962" y="964043"/>
              <a:ext cx="2524125" cy="330200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A297269-A645-BD48-8495-DEB89E35BD07}"/>
              </a:ext>
            </a:extLst>
          </p:cNvPr>
          <p:cNvSpPr txBox="1"/>
          <p:nvPr/>
        </p:nvSpPr>
        <p:spPr>
          <a:xfrm>
            <a:off x="9745604" y="3241898"/>
            <a:ext cx="1802094" cy="718767"/>
          </a:xfrm>
          <a:prstGeom prst="rect">
            <a:avLst/>
          </a:prstGeom>
          <a:solidFill>
            <a:srgbClr val="FFFF00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Duplicate code!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557C43-DD65-55DE-0455-E8BCA2BE793C}"/>
              </a:ext>
            </a:extLst>
          </p:cNvPr>
          <p:cNvCxnSpPr>
            <a:cxnSpLocks/>
          </p:cNvCxnSpPr>
          <p:nvPr/>
        </p:nvCxnSpPr>
        <p:spPr>
          <a:xfrm flipH="1" flipV="1">
            <a:off x="8416413" y="2939845"/>
            <a:ext cx="1327355" cy="302053"/>
          </a:xfrm>
          <a:prstGeom prst="straightConnector1">
            <a:avLst/>
          </a:prstGeom>
          <a:ln w="158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3C7132-64DB-1B09-7E4C-FB8BC1B6D78E}"/>
              </a:ext>
            </a:extLst>
          </p:cNvPr>
          <p:cNvCxnSpPr>
            <a:cxnSpLocks/>
          </p:cNvCxnSpPr>
          <p:nvPr/>
        </p:nvCxnSpPr>
        <p:spPr>
          <a:xfrm flipH="1">
            <a:off x="8416413" y="3960665"/>
            <a:ext cx="1327355" cy="385193"/>
          </a:xfrm>
          <a:prstGeom prst="straightConnector1">
            <a:avLst/>
          </a:prstGeom>
          <a:ln w="158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</a:t>
            </a:r>
            <a:r>
              <a:rPr lang="en-US"/>
              <a:t>problem III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81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abstract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content)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content);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abstract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2060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override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SessionTxtFileWriter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override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 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</a:p>
          <a:p>
            <a:r>
              <a:rPr lang="en-US" sz="16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416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2956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DD18E-11BC-9CAD-01C5-6385F8496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reloaded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E9157-90AC-EB08-E479-347080664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/>
              <a:t>What if we want to add</a:t>
            </a:r>
          </a:p>
          <a:p>
            <a:pPr marL="0" indent="0" algn="ctr">
              <a:buNone/>
            </a:pPr>
            <a:r>
              <a:rPr lang="en-US" dirty="0"/>
              <a:t>optional exception handling?</a:t>
            </a:r>
          </a:p>
        </p:txBody>
      </p:sp>
    </p:spTree>
    <p:extLst>
      <p:ext uri="{BB962C8B-B14F-4D97-AF65-F5344CB8AC3E}">
        <p14:creationId xmlns:p14="http://schemas.microsoft.com/office/powerpoint/2010/main" val="4046147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IOExceptionHandler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IExceptionHandler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7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false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700" dirty="0">
              <a:solidFill>
                <a:srgbClr val="0F54D6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handler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IOExceptionHandler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JsonFileWriterWithExceptionHandling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7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handler }.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SessionTxtFileWriterWithExceptionHandling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7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handler }.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727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abstract class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FileWriterWithExceptionHandling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5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IExceptionHandler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US" sz="15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5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content) 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5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content);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5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catch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when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!=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(e))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abstract void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5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2514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81CBC1-9A06-D5E4-98DF-BA1917538E8F}"/>
              </a:ext>
            </a:extLst>
          </p:cNvPr>
          <p:cNvSpPr txBox="1"/>
          <p:nvPr/>
        </p:nvSpPr>
        <p:spPr>
          <a:xfrm>
            <a:off x="4114612" y="2876080"/>
            <a:ext cx="2923940" cy="1105840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Nothing needs</a:t>
            </a:r>
          </a:p>
          <a:p>
            <a:pPr algn="ctr"/>
            <a:r>
              <a:rPr lang="en-US" sz="2000" b="1" dirty="0">
                <a:solidFill>
                  <a:schemeClr val="bg1"/>
                </a:solidFill>
              </a:rPr>
              <a:t>to change!</a:t>
            </a:r>
          </a:p>
        </p:txBody>
      </p:sp>
    </p:spTree>
    <p:extLst>
      <p:ext uri="{BB962C8B-B14F-4D97-AF65-F5344CB8AC3E}">
        <p14:creationId xmlns:p14="http://schemas.microsoft.com/office/powerpoint/2010/main" val="370008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81CBC1-9A06-D5E4-98DF-BA1917538E8F}"/>
              </a:ext>
            </a:extLst>
          </p:cNvPr>
          <p:cNvSpPr txBox="1"/>
          <p:nvPr/>
        </p:nvSpPr>
        <p:spPr>
          <a:xfrm>
            <a:off x="1471614" y="2729897"/>
            <a:ext cx="8209935" cy="2841522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action, </a:t>
            </a:r>
            <a:r>
              <a:rPr lang="en-US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handler)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action();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catch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(handler(e))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46917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handler = 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false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n,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(n, s), handler);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n,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(n, s), handler);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III</a:t>
            </a:r>
          </a:p>
        </p:txBody>
      </p:sp>
    </p:spTree>
    <p:extLst>
      <p:ext uri="{BB962C8B-B14F-4D97-AF65-F5344CB8AC3E}">
        <p14:creationId xmlns:p14="http://schemas.microsoft.com/office/powerpoint/2010/main" val="33525258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“Disadvantages” of FP - Sidebar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  <a:p>
            <a:pPr lvl="1"/>
            <a:r>
              <a:rPr lang="en-US" dirty="0"/>
              <a:t>Memory copy overhead</a:t>
            </a:r>
          </a:p>
          <a:p>
            <a:pPr lvl="1"/>
            <a:r>
              <a:rPr lang="en-US" dirty="0"/>
              <a:t>Heap allocations</a:t>
            </a:r>
          </a:p>
          <a:p>
            <a:r>
              <a:rPr lang="en-US" dirty="0"/>
              <a:t>Level of abstraction</a:t>
            </a:r>
          </a:p>
          <a:p>
            <a:pPr lvl="1"/>
            <a:r>
              <a:rPr lang="en-US" dirty="0"/>
              <a:t>Higher (or at least different)</a:t>
            </a:r>
          </a:p>
          <a:p>
            <a:pPr lvl="1"/>
            <a:r>
              <a:rPr lang="en-US" dirty="0"/>
              <a:t>Combined with other abstract concepts</a:t>
            </a:r>
          </a:p>
          <a:p>
            <a:r>
              <a:rPr lang="en-US" dirty="0"/>
              <a:t>Not as popular as OOP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160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Generator</a:t>
            </a:r>
          </a:p>
        </p:txBody>
      </p:sp>
    </p:spTree>
    <p:extLst>
      <p:ext uri="{BB962C8B-B14F-4D97-AF65-F5344CB8AC3E}">
        <p14:creationId xmlns:p14="http://schemas.microsoft.com/office/powerpoint/2010/main" val="17925978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F57B9-0325-6B81-0CBF-8DA68FF6A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C9749-11D5-5C76-8DA2-92014FCBB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/>
              <a:t>Write a generator that outputs an infinite</a:t>
            </a:r>
          </a:p>
          <a:p>
            <a:pPr marL="0" indent="0" algn="ctr">
              <a:buNone/>
            </a:pPr>
            <a:r>
              <a:rPr lang="en-US" dirty="0"/>
              <a:t>sequence of </a:t>
            </a:r>
            <a:r>
              <a:rPr lang="en-US" dirty="0" err="1"/>
              <a:t>DateTime</a:t>
            </a:r>
            <a:r>
              <a:rPr lang="en-US" dirty="0"/>
              <a:t> values with a given interval</a:t>
            </a:r>
          </a:p>
        </p:txBody>
      </p:sp>
    </p:spTree>
    <p:extLst>
      <p:ext uri="{BB962C8B-B14F-4D97-AF65-F5344CB8AC3E}">
        <p14:creationId xmlns:p14="http://schemas.microsoft.com/office/powerpoint/2010/main" val="11101675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yield 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4241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generator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MoveNext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0395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generator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5" name="Picture 4" descr="Screenshot of a console with the output of the code sample">
            <a:extLst>
              <a:ext uri="{FF2B5EF4-FFF2-40B4-BE49-F238E27FC236}">
                <a16:creationId xmlns:a16="http://schemas.microsoft.com/office/drawing/2014/main" id="{39A0ABDA-3772-405E-6072-494498E7A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4097" y="3027205"/>
            <a:ext cx="7033260" cy="1905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116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32315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functional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3568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DD18E-11BC-9CAD-01C5-6385F8496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The problem reloaded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E9157-90AC-EB08-E479-347080664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/>
              <a:t>Now synchronize it!</a:t>
            </a:r>
          </a:p>
        </p:txBody>
      </p:sp>
    </p:spTree>
    <p:extLst>
      <p:ext uri="{BB962C8B-B14F-4D97-AF65-F5344CB8AC3E}">
        <p14:creationId xmlns:p14="http://schemas.microsoft.com/office/powerpoint/2010/main" val="14341365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See also:</a:t>
            </a:r>
          </a:p>
          <a:p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https://</a:t>
            </a:r>
            <a:r>
              <a:rPr lang="en-US" sz="1800" i="1" dirty="0" err="1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codeblog.jonskeet.uk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/2009/10/23/iterating-atomically/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interface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IDisposable</a:t>
            </a:r>
            <a:b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out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52986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class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IEnumerableExtensions</a:t>
            </a:r>
            <a:b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enumerable)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sz="1170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&gt;(enumerable);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sealed class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17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object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17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internal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enumerable)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_enumerator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enumerable.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out 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lock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MoveNext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17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Dispose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Dispose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17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6833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77F31-F86B-A096-5478-8977A6B12786}"/>
              </a:ext>
            </a:extLst>
          </p:cNvPr>
          <p:cNvSpPr txBox="1"/>
          <p:nvPr/>
        </p:nvSpPr>
        <p:spPr>
          <a:xfrm>
            <a:off x="4114612" y="2876080"/>
            <a:ext cx="2923940" cy="1105840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Nothing needs</a:t>
            </a:r>
          </a:p>
          <a:p>
            <a:pPr algn="ctr"/>
            <a:r>
              <a:rPr lang="en-US" sz="2000" b="1" dirty="0">
                <a:solidFill>
                  <a:schemeClr val="bg1"/>
                </a:solidFill>
              </a:rPr>
              <a:t>to change!</a:t>
            </a:r>
          </a:p>
        </p:txBody>
      </p:sp>
    </p:spTree>
    <p:extLst>
      <p:ext uri="{BB962C8B-B14F-4D97-AF65-F5344CB8AC3E}">
        <p14:creationId xmlns:p14="http://schemas.microsoft.com/office/powerpoint/2010/main" val="3825035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FE456-6CEC-8EFA-39CD-EF13C328652C}"/>
              </a:ext>
            </a:extLst>
          </p:cNvPr>
          <p:cNvSpPr txBox="1"/>
          <p:nvPr/>
        </p:nvSpPr>
        <p:spPr>
          <a:xfrm>
            <a:off x="2053102" y="2720226"/>
            <a:ext cx="6590740" cy="2860863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object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lock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1724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functional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0476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274838"/>
            <a:ext cx="10068412" cy="230832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Next steps and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further resources</a:t>
            </a:r>
          </a:p>
        </p:txBody>
      </p:sp>
    </p:spTree>
    <p:extLst>
      <p:ext uri="{BB962C8B-B14F-4D97-AF65-F5344CB8AC3E}">
        <p14:creationId xmlns:p14="http://schemas.microsoft.com/office/powerpoint/2010/main" val="14482216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6" descr="Cover of 'Programming F# 3.0' by Chris Smith">
            <a:extLst>
              <a:ext uri="{FF2B5EF4-FFF2-40B4-BE49-F238E27FC236}">
                <a16:creationId xmlns:a16="http://schemas.microsoft.com/office/drawing/2014/main" id="{721456BB-2F1B-8A3B-2147-FCEE67FC2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71862"/>
            <a:ext cx="2120400" cy="2783705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77129-EC5D-7165-AE26-6C911ACA0B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Programming F# 3.0</a:t>
            </a:r>
          </a:p>
          <a:p>
            <a:pPr>
              <a:spcBef>
                <a:spcPts val="400"/>
              </a:spcBef>
            </a:pPr>
            <a:r>
              <a:rPr lang="en-US" dirty="0"/>
              <a:t>Chris Smith</a:t>
            </a:r>
          </a:p>
          <a:p>
            <a:pPr>
              <a:spcBef>
                <a:spcPts val="400"/>
              </a:spcBef>
            </a:pPr>
            <a:r>
              <a:rPr lang="en-US" dirty="0"/>
              <a:t>O'Reilly Media</a:t>
            </a:r>
          </a:p>
          <a:p>
            <a:pPr>
              <a:spcBef>
                <a:spcPts val="400"/>
              </a:spcBef>
            </a:pPr>
            <a:r>
              <a:rPr lang="en-US" dirty="0"/>
              <a:t>978-1449320294</a:t>
            </a:r>
          </a:p>
        </p:txBody>
      </p:sp>
      <p:pic>
        <p:nvPicPr>
          <p:cNvPr id="5" name="Content Placeholder 6" descr="Cover of 'Functional Programming in C#' by Enrico Buonanno">
            <a:extLst>
              <a:ext uri="{FF2B5EF4-FFF2-40B4-BE49-F238E27FC236}">
                <a16:creationId xmlns:a16="http://schemas.microsoft.com/office/drawing/2014/main" id="{125A7354-D09C-5D86-11B6-91574DA5D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000" y="3470400"/>
            <a:ext cx="2222500" cy="27844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CBA19-6CEA-A190-734C-E1D09BB6D8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Functional Programming in C#</a:t>
            </a:r>
          </a:p>
          <a:p>
            <a:pPr>
              <a:spcBef>
                <a:spcPts val="400"/>
              </a:spcBef>
            </a:pPr>
            <a:r>
              <a:rPr lang="en-US" dirty="0"/>
              <a:t>Enrico </a:t>
            </a:r>
            <a:r>
              <a:rPr lang="en-US" dirty="0" err="1"/>
              <a:t>Buonanno</a:t>
            </a:r>
            <a:endParaRPr lang="en-US" dirty="0"/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978-1617299827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3AEFD3-DBBB-9C8F-3C9D-1D622D66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 and further resources</a:t>
            </a:r>
            <a:br>
              <a:rPr lang="en-US" dirty="0"/>
            </a:br>
            <a:r>
              <a:rPr lang="en-US" dirty="0"/>
              <a:t>FP with .NET</a:t>
            </a:r>
          </a:p>
        </p:txBody>
      </p:sp>
    </p:spTree>
    <p:extLst>
      <p:ext uri="{BB962C8B-B14F-4D97-AF65-F5344CB8AC3E}">
        <p14:creationId xmlns:p14="http://schemas.microsoft.com/office/powerpoint/2010/main" val="18372306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over of 'Grokking Simplicity' by Eric Normand">
            <a:extLst>
              <a:ext uri="{FF2B5EF4-FFF2-40B4-BE49-F238E27FC236}">
                <a16:creationId xmlns:a16="http://schemas.microsoft.com/office/drawing/2014/main" id="{5CDAFD78-D419-A87C-B17B-6791AD01B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72027"/>
            <a:ext cx="2221200" cy="27828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77129-EC5D-7165-AE26-6C911ACA0B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Grokking Simplicity</a:t>
            </a:r>
          </a:p>
          <a:p>
            <a:pPr>
              <a:spcBef>
                <a:spcPts val="400"/>
              </a:spcBef>
            </a:pPr>
            <a:r>
              <a:rPr lang="en-US" dirty="0"/>
              <a:t>Eric Normand</a:t>
            </a:r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978-1617296208</a:t>
            </a:r>
          </a:p>
        </p:txBody>
      </p:sp>
      <p:pic>
        <p:nvPicPr>
          <p:cNvPr id="7" name="Content Placeholder 6" descr="Cover of 'Grokking Functional Programming' by Michał Płachta">
            <a:extLst>
              <a:ext uri="{FF2B5EF4-FFF2-40B4-BE49-F238E27FC236}">
                <a16:creationId xmlns:a16="http://schemas.microsoft.com/office/drawing/2014/main" id="{1FC24A0B-0B82-A8F1-056B-1257EC062A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000" y="3470400"/>
            <a:ext cx="2222500" cy="27844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CBA19-6CEA-A190-734C-E1D09BB6D8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Grokking Functional Programming</a:t>
            </a:r>
          </a:p>
          <a:p>
            <a:pPr>
              <a:spcBef>
                <a:spcPts val="400"/>
              </a:spcBef>
            </a:pPr>
            <a:r>
              <a:rPr lang="en-US" dirty="0" err="1"/>
              <a:t>Michał</a:t>
            </a:r>
            <a:r>
              <a:rPr lang="en-US" dirty="0"/>
              <a:t> </a:t>
            </a:r>
            <a:r>
              <a:rPr lang="en-US" dirty="0" err="1"/>
              <a:t>Płachta</a:t>
            </a:r>
            <a:endParaRPr lang="en-US" dirty="0"/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978-1617291838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3AEFD3-DBBB-9C8F-3C9D-1D622D66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 and further resources</a:t>
            </a:r>
            <a:br>
              <a:rPr lang="en-US" dirty="0"/>
            </a:br>
            <a:r>
              <a:rPr lang="en-US" dirty="0"/>
              <a:t>FP in general</a:t>
            </a:r>
          </a:p>
        </p:txBody>
      </p:sp>
    </p:spTree>
    <p:extLst>
      <p:ext uri="{BB962C8B-B14F-4D97-AF65-F5344CB8AC3E}">
        <p14:creationId xmlns:p14="http://schemas.microsoft.com/office/powerpoint/2010/main" val="15618901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29B12B77-0EED-C756-22C8-6C8E5EDEE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8471E3-9146-8ED9-8175-0660582F81E8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6" name="Picture 5" descr="LinkedIn">
            <a:extLst>
              <a:ext uri="{FF2B5EF4-FFF2-40B4-BE49-F238E27FC236}">
                <a16:creationId xmlns:a16="http://schemas.microsoft.com/office/drawing/2014/main" id="{7D98E4BD-5402-43AA-9908-E267E4745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D6468B-2C26-1307-0433-2A67BD6787E4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EEE95-08B4-92EA-3C0F-646452BA2D3F}"/>
              </a:ext>
            </a:extLst>
          </p:cNvPr>
          <p:cNvSpPr txBox="1"/>
          <p:nvPr/>
        </p:nvSpPr>
        <p:spPr>
          <a:xfrm>
            <a:off x="800100" y="6064431"/>
            <a:ext cx="3331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@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dcdietrich.bsky.social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D7F54FC-2B69-5444-1859-CEC19FE57B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itHub">
            <a:extLst>
              <a:ext uri="{FF2B5EF4-FFF2-40B4-BE49-F238E27FC236}">
                <a16:creationId xmlns:a16="http://schemas.microsoft.com/office/drawing/2014/main" id="{C9112408-9719-E440-BC6C-BA3E3E65E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FAD6ED-B45F-E480-52EB-49AC0568C9BA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20" name="Picture 19" descr="LinkedIn">
            <a:extLst>
              <a:ext uri="{FF2B5EF4-FFF2-40B4-BE49-F238E27FC236}">
                <a16:creationId xmlns:a16="http://schemas.microsoft.com/office/drawing/2014/main" id="{4FA14B23-7ADB-953A-F57A-3E44D463F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F7F53EC-6158-915C-CFC1-D4626D193755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CD013-650A-7ACA-137D-1B0EBA985A4B}"/>
              </a:ext>
            </a:extLst>
          </p:cNvPr>
          <p:cNvSpPr txBox="1"/>
          <p:nvPr/>
        </p:nvSpPr>
        <p:spPr>
          <a:xfrm>
            <a:off x="800100" y="6064431"/>
            <a:ext cx="3331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@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dcdietrich.bsky.social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B1C11BA-B1C6-6B2D-5BC7-4A285D6EF8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4201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563A4DA-A6B5-ECBF-4995-9AF4741213E9}"/>
              </a:ext>
            </a:extLst>
          </p:cNvPr>
          <p:cNvSpPr txBox="1">
            <a:spLocks/>
          </p:cNvSpPr>
          <p:nvPr/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defRPr/>
            </a:pPr>
            <a:r>
              <a:rPr lang="en-US" sz="7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Thanks for listening!</a:t>
            </a:r>
            <a:endParaRPr lang="en-US" sz="7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A1DC71-2173-D447-EEAC-6A2139DFFD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1" y="1016001"/>
            <a:ext cx="4825999" cy="482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308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3269</TotalTime>
  <Words>4577</Words>
  <Application>Microsoft Macintosh PowerPoint</Application>
  <PresentationFormat>Widescreen</PresentationFormat>
  <Paragraphs>276</Paragraphs>
  <Slides>65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Calibri</vt:lpstr>
      <vt:lpstr>Cambria Math</vt:lpstr>
      <vt:lpstr>Century Gothic</vt:lpstr>
      <vt:lpstr>Consolas</vt:lpstr>
      <vt:lpstr>Segoe UI</vt:lpstr>
      <vt:lpstr>Wingdings 3</vt:lpstr>
      <vt:lpstr>Ion</vt:lpstr>
      <vt:lpstr>Let's get Func&lt;Y&gt;</vt:lpstr>
      <vt:lpstr>Overview</vt:lpstr>
      <vt:lpstr>But before we start…</vt:lpstr>
      <vt:lpstr>Orders of functions</vt:lpstr>
      <vt:lpstr>Orders of functions First-order functions</vt:lpstr>
      <vt:lpstr>Orders of functions Higher-order functions (HOFs)</vt:lpstr>
      <vt:lpstr>Pure functions</vt:lpstr>
      <vt:lpstr>Pure functions Definition</vt:lpstr>
      <vt:lpstr>Pure functions Side effects</vt:lpstr>
      <vt:lpstr>Pure functions Why are exceptions side effects?</vt:lpstr>
      <vt:lpstr>Pure functions Immutability</vt:lpstr>
      <vt:lpstr>Pure functions - Sidebar When to optimize I</vt:lpstr>
      <vt:lpstr>Pure functions - Sidebar When to optimize II</vt:lpstr>
      <vt:lpstr>Pure functions - Sidebar When to optimize III</vt:lpstr>
      <vt:lpstr>Pure functions Advantages</vt:lpstr>
      <vt:lpstr>Functional programming</vt:lpstr>
      <vt:lpstr>Functional programming (FP) Definition I</vt:lpstr>
      <vt:lpstr>Functional programming (FP) Definition II</vt:lpstr>
      <vt:lpstr>Functional programming (FP) Definitive definition (for this talk)</vt:lpstr>
      <vt:lpstr>Functional programming (FP) Pattern matching</vt:lpstr>
      <vt:lpstr>Closures</vt:lpstr>
      <vt:lpstr>Closures Definition</vt:lpstr>
      <vt:lpstr>Closures Examples I</vt:lpstr>
      <vt:lpstr>Closures Examples II</vt:lpstr>
      <vt:lpstr>Examples</vt:lpstr>
      <vt:lpstr>Examples Adding optional logging</vt:lpstr>
      <vt:lpstr>Example - Adding optional logging The problem I</vt:lpstr>
      <vt:lpstr>Example - Adding optional logging The problem II</vt:lpstr>
      <vt:lpstr>Example - Adding optional logging OOP solution I</vt:lpstr>
      <vt:lpstr>Example - Adding optional logging OOP solution II</vt:lpstr>
      <vt:lpstr>Example - Adding optional logging Functional solution I</vt:lpstr>
      <vt:lpstr>Example - Adding optional logging Functional solution II</vt:lpstr>
      <vt:lpstr>Example - Adding optional logging Functional solution III</vt:lpstr>
      <vt:lpstr>Examples Keeping things DRY</vt:lpstr>
      <vt:lpstr>Example - Keeping things DRY The problem I</vt:lpstr>
      <vt:lpstr>Example - Keeping things DRY The problem II</vt:lpstr>
      <vt:lpstr>Example - Keeping things DRY The problem III</vt:lpstr>
      <vt:lpstr>Example - Keeping things DRY OOP solution I</vt:lpstr>
      <vt:lpstr>Example - Keeping things DRY OOP solution II</vt:lpstr>
      <vt:lpstr>Example - Keeping things DRY Functional solution</vt:lpstr>
      <vt:lpstr>Example - Keeping things DRY The problem reloaded</vt:lpstr>
      <vt:lpstr>Example - Keeping things DRY OOP solution reloaded I</vt:lpstr>
      <vt:lpstr>Example - Keeping things DRY OOP solution reloaded II</vt:lpstr>
      <vt:lpstr>Example - Keeping things DRY Functional solution reloaded I</vt:lpstr>
      <vt:lpstr>Example - Keeping things DRY Functional solution reloaded II</vt:lpstr>
      <vt:lpstr>Example - Keeping things DRY Functional solution reloaded III</vt:lpstr>
      <vt:lpstr>“Disadvantages” of FP - Sidebar </vt:lpstr>
      <vt:lpstr>Examples Generator</vt:lpstr>
      <vt:lpstr>Example - Generator The problem</vt:lpstr>
      <vt:lpstr>Example - Generator Generator solution I</vt:lpstr>
      <vt:lpstr>Example - Generator Generator solution II</vt:lpstr>
      <vt:lpstr>Example - Generator Generator solution III</vt:lpstr>
      <vt:lpstr>Example - Generator FP solution I</vt:lpstr>
      <vt:lpstr>Example - Generator FP solution II</vt:lpstr>
      <vt:lpstr>Example - Generator The problem reloaded</vt:lpstr>
      <vt:lpstr>Example - Generator Generator solution reloaded I</vt:lpstr>
      <vt:lpstr>Example - Generator Generator solution reloaded II</vt:lpstr>
      <vt:lpstr>Example - Generator FP solution reloaded I</vt:lpstr>
      <vt:lpstr>Example - Generator FP solution reloaded II</vt:lpstr>
      <vt:lpstr>Example - Generator FP solution reloaded III</vt:lpstr>
      <vt:lpstr>Next steps and further resources</vt:lpstr>
      <vt:lpstr>Next steps and further resources FP with .NET</vt:lpstr>
      <vt:lpstr>Next steps and further resources FP in general</vt:lpstr>
      <vt:lpstr>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you think you know functions</dc:title>
  <dc:creator>Dennis Dietrich</dc:creator>
  <cp:lastModifiedBy>Dennis Dietrich</cp:lastModifiedBy>
  <cp:revision>154</cp:revision>
  <dcterms:created xsi:type="dcterms:W3CDTF">2023-01-20T23:10:00Z</dcterms:created>
  <dcterms:modified xsi:type="dcterms:W3CDTF">2026-05-03T12:16:08Z</dcterms:modified>
</cp:coreProperties>
</file>